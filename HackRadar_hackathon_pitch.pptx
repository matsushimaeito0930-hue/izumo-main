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Product implementation in the HackRadar repository.
- Production flow verified on 2026-08-04.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Problem framing based on the product brief and user feedback in this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implemented in app/api/github/webhook, lib/github.ts, lib/store.ts, and Supabase schema.
- GitHub webhook signature and production delivery were verified on 2026-08-04.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UI and API state from the HackRadar implementation.
- Bar values are demo display values, not a claim about a public benchmark.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OAuth onboarding and production webhook-to-dashboard flow verified in the deployed MVP.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 based on the implemented MVP scope and verified production workflow.
- Future items are product directions, not completed features.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13232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 / PRODUCT PITCH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1316736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22376" y="2139696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Hackathonの進捗を、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コミットで見える化する。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0664" y="33192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チームの動きを、次の一手につなげるダッシュボード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" y="51389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45" kern="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login  /  Webhook  /  Supabase  /  Realtime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243240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55548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 / 2026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43800" y="1234440"/>
            <a:ext cx="3246120" cy="3246120"/>
          </a:xfrm>
          <a:prstGeom prst="ellipse">
            <a:avLst/>
          </a:prstGeom>
          <a:solidFill>
            <a:srgbClr val="0B1017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5008" y="1755648"/>
            <a:ext cx="2203704" cy="2203704"/>
          </a:xfrm>
          <a:prstGeom prst="ellipse">
            <a:avLst/>
          </a:prstGeom>
          <a:solidFill>
            <a:srgbClr val="0B1017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22792" y="2313432"/>
            <a:ext cx="1088136" cy="1088136"/>
          </a:xfrm>
          <a:prstGeom prst="ellipse">
            <a:avLst/>
          </a:prstGeom>
          <a:solidFill>
            <a:srgbClr val="151F2A"/>
          </a:solidFill>
          <a:ln w="12700">
            <a:solidFill>
              <a:srgbClr val="51D6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71432" y="1481328"/>
            <a:ext cx="0" cy="2688336"/>
          </a:xfrm>
          <a:prstGeom prst="line">
            <a:avLst/>
          </a:prstGeom>
          <a:noFill/>
          <a:ln w="8890">
            <a:solidFill>
              <a:srgbClr val="243240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818120" y="2852928"/>
            <a:ext cx="2697480" cy="0"/>
          </a:xfrm>
          <a:prstGeom prst="line">
            <a:avLst/>
          </a:prstGeom>
          <a:noFill/>
          <a:ln w="8890">
            <a:solidFill>
              <a:srgbClr val="243240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162288" y="2852928"/>
            <a:ext cx="950976" cy="-960120"/>
          </a:xfrm>
          <a:prstGeom prst="line">
            <a:avLst/>
          </a:prstGeom>
          <a:noFill/>
          <a:ln w="22860">
            <a:solidFill>
              <a:srgbClr val="51D6D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43416" y="2724912"/>
            <a:ext cx="237744" cy="237744"/>
          </a:xfrm>
          <a:prstGeom prst="ellipse">
            <a:avLst/>
          </a:prstGeom>
          <a:solidFill>
            <a:srgbClr val="FF7E67"/>
          </a:solidFill>
          <a:ln w="12700">
            <a:solidFill>
              <a:srgbClr val="FF7E6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40112" y="1664208"/>
            <a:ext cx="109728" cy="10972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0728" y="3840480"/>
            <a:ext cx="109728" cy="109728"/>
          </a:xfrm>
          <a:prstGeom prst="ellipse">
            <a:avLst/>
          </a:prstGeom>
          <a:solidFill>
            <a:srgbClr val="A88BFF"/>
          </a:solidFill>
          <a:ln w="12700">
            <a:solidFill>
              <a:srgbClr val="A88B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13064" y="26700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SIGNAL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36408" y="4800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4B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visibility &gt; guesswork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243240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5548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 /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/ 課題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開発が止まっているのか、見えていなかった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ハッカソンでは、チーム間の進捗差が最後まで見えにくい。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" y="2779776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「誰が何を作っているか」が分からないと、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助けるタイミングも、競争の熱量も失われる。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5715000" y="2816352"/>
            <a:ext cx="329184" cy="0"/>
          </a:xfrm>
          <a:prstGeom prst="line">
            <a:avLst/>
          </a:prstGeom>
          <a:noFill/>
          <a:ln w="38100">
            <a:solidFill>
              <a:srgbClr val="FF7E67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6236208" y="27066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状況が見えない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48272" y="30175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進捗確認が、個別の声かけに依存する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3849624"/>
            <a:ext cx="329184" cy="0"/>
          </a:xfrm>
          <a:prstGeom prst="line">
            <a:avLst/>
          </a:prstGeom>
          <a:noFill/>
          <a:ln w="38100">
            <a:solidFill>
              <a:srgbClr val="F6C85F"/>
            </a:solidFill>
            <a:prstDash val="solid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6236208" y="37398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8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48272" y="3721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比較できない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48272" y="40507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チームの動きを同じ尺度で見られない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715000" y="4882896"/>
            <a:ext cx="329184" cy="0"/>
          </a:xfrm>
          <a:prstGeom prst="line">
            <a:avLst/>
          </a:prstGeom>
          <a:noFill/>
          <a:ln w="38100">
            <a:solidFill>
              <a:srgbClr val="51D6D1"/>
            </a:solidFill>
            <a:prstDash val="solid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6236208" y="4773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4754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支援が遅れる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48272" y="50840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困っているチームに気づくまで時間がかかる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15000" y="5715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観測できない進捗は、存在しない進捗と同じように扱われる。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SIGNAL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243240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5548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 /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解決策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GitHubの活動を、チームの現在地に変える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開発者が新しい入力を増やさず、いつものPushを進捗シグナルにする。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505456" y="3218688"/>
            <a:ext cx="749808" cy="0"/>
          </a:xfrm>
          <a:prstGeom prst="line">
            <a:avLst/>
          </a:prstGeom>
          <a:noFill/>
          <a:ln w="22860">
            <a:solidFill>
              <a:srgbClr val="51D6D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965192" y="3218688"/>
            <a:ext cx="749808" cy="0"/>
          </a:xfrm>
          <a:prstGeom prst="line">
            <a:avLst/>
          </a:prstGeom>
          <a:noFill/>
          <a:ln w="22860">
            <a:solidFill>
              <a:srgbClr val="51D6D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24928" y="3218688"/>
            <a:ext cx="749808" cy="0"/>
          </a:xfrm>
          <a:prstGeom prst="line">
            <a:avLst/>
          </a:prstGeom>
          <a:noFill/>
          <a:ln w="22860">
            <a:solidFill>
              <a:srgbClr val="51D6D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3232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151F2A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" y="2615184"/>
            <a:ext cx="384048" cy="384048"/>
          </a:xfrm>
          <a:prstGeom prst="ellipse">
            <a:avLst/>
          </a:prstGeom>
          <a:solidFill>
            <a:srgbClr val="FF7E67"/>
          </a:solidFill>
          <a:ln w="12700">
            <a:solidFill>
              <a:srgbClr val="FF7E6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6112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96112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いつものPush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72968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151F2A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55848" y="2615184"/>
            <a:ext cx="384048" cy="384048"/>
          </a:xfrm>
          <a:prstGeom prst="ellipse">
            <a:avLst/>
          </a:prstGeom>
          <a:solidFill>
            <a:srgbClr val="51D6D1"/>
          </a:solidFill>
          <a:ln w="12700">
            <a:solidFill>
              <a:srgbClr val="51D6D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55848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3355848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署名付きイベント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32704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151F2A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15584" y="2615184"/>
            <a:ext cx="384048" cy="384048"/>
          </a:xfrm>
          <a:prstGeom prst="ellipse">
            <a:avLst/>
          </a:prstGeom>
          <a:solidFill>
            <a:srgbClr val="A88BFF"/>
          </a:solidFill>
          <a:ln w="12700">
            <a:solidFill>
              <a:srgbClr val="A88B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15584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15584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5815584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活動を保存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92440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151F2A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2615184"/>
            <a:ext cx="384048" cy="38404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75320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8275320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チームの現在地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" y="48006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入力は増やさず、見える情報だけを増やす。</a:t>
            </a:r>
            <a:endParaRPr lang="en-US" sz="2300" dirty="0"/>
          </a:p>
        </p:txBody>
      </p:sp>
      <p:sp>
        <p:nvSpPr>
          <p:cNvPr id="53" name="Text 51"/>
          <p:cNvSpPr/>
          <p:nvPr/>
        </p:nvSpPr>
        <p:spPr>
          <a:xfrm>
            <a:off x="6565392" y="4681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500" dirty="0"/>
          </a:p>
        </p:txBody>
      </p:sp>
      <p:sp>
        <p:nvSpPr>
          <p:cNvPr id="54" name="Text 52"/>
          <p:cNvSpPr/>
          <p:nvPr/>
        </p:nvSpPr>
        <p:spPr>
          <a:xfrm>
            <a:off x="6565392" y="5102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 = 1 signal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47888" y="4681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500" dirty="0"/>
          </a:p>
        </p:txBody>
      </p:sp>
      <p:sp>
        <p:nvSpPr>
          <p:cNvPr id="56" name="Text 54"/>
          <p:cNvSpPr/>
          <p:nvPr/>
        </p:nvSpPr>
        <p:spPr>
          <a:xfrm>
            <a:off x="8247888" y="5102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score / commit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939528" y="4681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C8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∞</a:t>
            </a:r>
            <a:endParaRPr lang="en-US" sz="2500" dirty="0"/>
          </a:p>
        </p:txBody>
      </p:sp>
      <p:sp>
        <p:nvSpPr>
          <p:cNvPr id="58" name="Text 56"/>
          <p:cNvSpPr/>
          <p:nvPr/>
        </p:nvSpPr>
        <p:spPr>
          <a:xfrm>
            <a:off x="9939528" y="5102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teams in 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243240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5548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 /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プロダクト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Dashboardは、競争よりも次の一手を見せる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棒グラフと活動履歴を同じ画面に置き、チーム間の温度差を読む。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MOMENTUM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783080" y="2889504"/>
            <a:ext cx="3291840" cy="20116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3080" y="2889504"/>
            <a:ext cx="3291840" cy="201168"/>
          </a:xfrm>
          <a:prstGeom prst="rect">
            <a:avLst/>
          </a:prstGeom>
          <a:solidFill>
            <a:srgbClr val="51D6D1"/>
          </a:solidFill>
          <a:ln w="12700">
            <a:solidFill>
              <a:srgbClr val="51D6D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" y="33924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B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783080" y="3410712"/>
            <a:ext cx="3291840" cy="20116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3080" y="3410712"/>
            <a:ext cx="2194560" cy="201168"/>
          </a:xfrm>
          <a:prstGeom prst="rect">
            <a:avLst/>
          </a:prstGeom>
          <a:solidFill>
            <a:srgbClr val="A88BFF"/>
          </a:solidFill>
          <a:ln w="12700">
            <a:solidFill>
              <a:srgbClr val="A88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8328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" y="3913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783080" y="3931920"/>
            <a:ext cx="3291840" cy="20116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3931920"/>
            <a:ext cx="548640" cy="201168"/>
          </a:xfrm>
          <a:prstGeom prst="rect">
            <a:avLst/>
          </a:prstGeom>
          <a:solidFill>
            <a:srgbClr val="FF7E67"/>
          </a:solidFill>
          <a:ln w="12700">
            <a:solidFill>
              <a:srgbClr val="FF7E6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39044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783080" y="4453128"/>
            <a:ext cx="3291840" cy="20116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4453128"/>
            <a:ext cx="731520" cy="201168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44256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3232" y="5166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C7B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表示イメージ / commit count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7880" y="2487168"/>
            <a:ext cx="0" cy="2834640"/>
          </a:xfrm>
          <a:prstGeom prst="line">
            <a:avLst/>
          </a:prstGeom>
          <a:noFill/>
          <a:ln w="12700">
            <a:solidFill>
              <a:srgbClr val="243240"/>
            </a:solidFill>
            <a:prstDash val="solid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6400800" y="2450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STREAM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19088" y="2962656"/>
            <a:ext cx="146304" cy="146304"/>
          </a:xfrm>
          <a:prstGeom prst="ellipse">
            <a:avLst/>
          </a:prstGeom>
          <a:solidFill>
            <a:srgbClr val="FF7E67"/>
          </a:solidFill>
          <a:ln w="12700">
            <a:solidFill>
              <a:srgbClr val="FF7E6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3127248"/>
            <a:ext cx="0" cy="530352"/>
          </a:xfrm>
          <a:prstGeom prst="line">
            <a:avLst/>
          </a:prstGeom>
          <a:noFill/>
          <a:ln w="12700">
            <a:solidFill>
              <a:srgbClr val="243240"/>
            </a:solidFill>
            <a:prstDash val="solid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6784848" y="29352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88352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A が 1 件のコミットをプッシュ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419088" y="3694176"/>
            <a:ext cx="146304" cy="146304"/>
          </a:xfrm>
          <a:prstGeom prst="ellipse">
            <a:avLst/>
          </a:prstGeom>
          <a:solidFill>
            <a:srgbClr val="51D6D1"/>
          </a:solidFill>
          <a:ln w="12700">
            <a:solidFill>
              <a:srgbClr val="51D6D1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3858768"/>
            <a:ext cx="0" cy="530352"/>
          </a:xfrm>
          <a:prstGeom prst="line">
            <a:avLst/>
          </a:prstGeom>
          <a:noFill/>
          <a:ln w="12700">
            <a:solidFill>
              <a:srgbClr val="243240"/>
            </a:solidFill>
            <a:prstDash val="solid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6784848" y="36667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88352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C が PR #12 をマージ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419088" y="4425696"/>
            <a:ext cx="146304" cy="146304"/>
          </a:xfrm>
          <a:prstGeom prst="ellipse">
            <a:avLst/>
          </a:prstGeom>
          <a:solidFill>
            <a:srgbClr val="A88BFF"/>
          </a:solidFill>
          <a:ln w="12700">
            <a:solidFill>
              <a:srgbClr val="A88B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84848" y="43982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8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88352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B がレビューを依頼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400800" y="5330952"/>
            <a:ext cx="4736592" cy="512064"/>
          </a:xfrm>
          <a:prstGeom prst="roundRect">
            <a:avLst>
              <a:gd name="adj" fmla="val 14286"/>
            </a:avLst>
          </a:prstGeom>
          <a:solidFill>
            <a:srgbClr val="151F2A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54681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動きが少ないチームに、早く声をかけられる。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243240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5548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 /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展示体験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展示で伝える体験は、3ステップで終わる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説明を聞く前に、動きが見える。審査員は一度のPushで仕組みを理解できる。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3232" y="2706624"/>
            <a:ext cx="493776" cy="493776"/>
          </a:xfrm>
          <a:prstGeom prst="ellipse">
            <a:avLst/>
          </a:prstGeom>
          <a:solidFill>
            <a:srgbClr val="FF7E67"/>
          </a:solidFill>
          <a:ln w="12700">
            <a:solidFill>
              <a:srgbClr val="FF7E6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8437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" y="3456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13232" y="38953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チーム名を選び、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GitHubで認証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371600" y="2953512"/>
            <a:ext cx="1353312" cy="0"/>
          </a:xfrm>
          <a:prstGeom prst="line">
            <a:avLst/>
          </a:prstGeom>
          <a:noFill/>
          <a:ln w="19050">
            <a:solidFill>
              <a:srgbClr val="24324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26664" y="2706624"/>
            <a:ext cx="493776" cy="493776"/>
          </a:xfrm>
          <a:prstGeom prst="ellipse">
            <a:avLst/>
          </a:prstGeom>
          <a:solidFill>
            <a:srgbClr val="51D6D1"/>
          </a:solidFill>
          <a:ln w="12700">
            <a:solidFill>
              <a:srgbClr val="51D6D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6664" y="28437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26664" y="3456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3026664" y="38953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いつもの開発を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そのまま続ける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685032" y="2953512"/>
            <a:ext cx="1353312" cy="0"/>
          </a:xfrm>
          <a:prstGeom prst="line">
            <a:avLst/>
          </a:prstGeom>
          <a:noFill/>
          <a:ln w="19050">
            <a:solidFill>
              <a:srgbClr val="24324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340096" y="2706624"/>
            <a:ext cx="493776" cy="493776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0096" y="28437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0096" y="3456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反映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340096" y="38953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活動履歴と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棒グラフが更新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909560" y="2450592"/>
            <a:ext cx="3218688" cy="2706624"/>
          </a:xfrm>
          <a:prstGeom prst="roundRect">
            <a:avLst>
              <a:gd name="adj" fmla="val 2703"/>
            </a:avLst>
          </a:prstGeom>
          <a:solidFill>
            <a:srgbClr val="151F2A"/>
          </a:solidFill>
          <a:ln w="12700">
            <a:solidFill>
              <a:srgbClr val="2432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27249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UPDATE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83880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9985248" y="31821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8183880" y="3767328"/>
            <a:ext cx="2670048" cy="0"/>
          </a:xfrm>
          <a:prstGeom prst="line">
            <a:avLst/>
          </a:prstGeom>
          <a:noFill/>
          <a:ln w="12700">
            <a:solidFill>
              <a:srgbClr val="243240"/>
            </a:solidFill>
            <a:prstDash val="solid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8183880" y="40416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commit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73836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 now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83880" y="4572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コミットが、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チームの進捗に変わる。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31520" y="568756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1D6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展示のデモでは、同じ流れを一度見せるだけで価値が伝わる。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810">
            <a:solidFill>
              <a:srgbClr val="243240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1D6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37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MOVE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243240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5548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C7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 /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F7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まとめ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Hackathonの開発を、置いていかない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HackRadarは、進捗を監視するためではなく、助け合いを早めるためのMVPです。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2761488"/>
            <a:ext cx="2706624" cy="0"/>
          </a:xfrm>
          <a:prstGeom prst="line">
            <a:avLst/>
          </a:prstGeom>
          <a:noFill/>
          <a:ln w="38100">
            <a:solidFill>
              <a:srgbClr val="51D6D1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731520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見える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731520" y="352958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チームの現在地を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同じ画面で把握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52544" y="2761488"/>
            <a:ext cx="2706624" cy="0"/>
          </a:xfrm>
          <a:prstGeom prst="line">
            <a:avLst/>
          </a:prstGeom>
          <a:noFill/>
          <a:ln w="38100">
            <a:solidFill>
              <a:srgbClr val="FF7E67"/>
            </a:solidFill>
            <a:prstDash val="solid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4352544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動ける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4352544" y="352958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止まりかけたチームへ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早く声をかける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973568" y="2761488"/>
            <a:ext cx="2706624" cy="0"/>
          </a:xfrm>
          <a:prstGeom prst="line">
            <a:avLst/>
          </a:prstGeom>
          <a:noFill/>
          <a:ln w="38100">
            <a:solidFill>
              <a:srgbClr val="F6C85F"/>
            </a:solidFill>
            <a:prstDash val="solid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7973568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伸ばせる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73568" y="352958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PR・Issue・メンターへ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7B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自然に拡張できる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31520" y="49651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88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27632" y="4928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6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リアルタイム在席 / PR・Issueの可視化 / メンター相談の強化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1520" y="57058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1D6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今は、審査員が価値を体験できるところまで来ている。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144000" y="53583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HackRadar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HackRadar | Hackathonの進捗を、コミットで見える化</dc:title>
  <dc:subject>Hackathon MVP pitch deck</dc:subject>
  <dc:creator>HackRadar</dc:creator>
  <cp:lastModifiedBy>HackRadar</cp:lastModifiedBy>
  <cp:revision>1</cp:revision>
  <dcterms:created xsi:type="dcterms:W3CDTF">2026-08-03T15:29:57Z</dcterms:created>
  <dcterms:modified xsi:type="dcterms:W3CDTF">2026-08-03T15:29:57Z</dcterms:modified>
</cp:coreProperties>
</file>