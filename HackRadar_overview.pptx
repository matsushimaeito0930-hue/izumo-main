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40878c5a634008" /><Relationship Type="http://schemas.openxmlformats.org/officeDocument/2006/relationships/extended-properties" Target="/docProps/app.xml" Id="Ra3e969dcd8cb4100" /><Relationship Type="http://schemas.openxmlformats.org/officeDocument/2006/relationships/officeDocument" Target="/ppt/presentation.xml" Id="R9833f1fee250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acfe5a9354748"/>
  </p:sldMasterIdLst>
  <p:notesMasterIdLst>
    <p:notesMasterId xmlns:r="http://schemas.openxmlformats.org/officeDocument/2006/relationships" r:id="R3a8cbbe1b2de4345"/>
  </p:notesMasterIdLst>
  <p:sldIdLst>
    <p:sldId xmlns:r="http://schemas.openxmlformats.org/officeDocument/2006/relationships" id="256" r:id="R934d6948a5204a62"/>
    <p:sldId xmlns:r="http://schemas.openxmlformats.org/officeDocument/2006/relationships" id="257" r:id="R02ba9ef64d944fe5"/>
    <p:sldId xmlns:r="http://schemas.openxmlformats.org/officeDocument/2006/relationships" id="258" r:id="Rfa25baba142a4e2c"/>
    <p:sldId xmlns:r="http://schemas.openxmlformats.org/officeDocument/2006/relationships" id="259" r:id="Rfc3b979421984b5e"/>
    <p:sldId xmlns:r="http://schemas.openxmlformats.org/officeDocument/2006/relationships" id="260" r:id="R82d935478ecc4da5"/>
    <p:sldId xmlns:r="http://schemas.openxmlformats.org/officeDocument/2006/relationships" id="261" r:id="R3627184534354e73"/>
    <p:sldId xmlns:r="http://schemas.openxmlformats.org/officeDocument/2006/relationships" id="262" r:id="R530d8d9b0d8b4e4e"/>
    <p:sldId xmlns:r="http://schemas.openxmlformats.org/officeDocument/2006/relationships" id="263" r:id="Rfa63c105768640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fddc011b3e44ac" /><Relationship Type="http://schemas.openxmlformats.org/officeDocument/2006/relationships/slideMaster" Target="/ppt/slideMasters/slideMaster1.xml" Id="Rcdeacfe5a9354748" /><Relationship Type="http://schemas.openxmlformats.org/officeDocument/2006/relationships/notesMaster" Target="/ppt/notesMasters/notesMaster1.xml" Id="R3a8cbbe1b2de4345" /><Relationship Type="http://schemas.openxmlformats.org/officeDocument/2006/relationships/presProps" Target="/ppt/presProps.xml" Id="Rec4bcd0cf02542b6" /><Relationship Type="http://schemas.openxmlformats.org/officeDocument/2006/relationships/tableStyles" Target="/ppt/tableStyles.xml" Id="R330b5283eaec499f" /><Relationship Type="http://schemas.openxmlformats.org/officeDocument/2006/relationships/slide" Target="/ppt/slides/slide1.xml" Id="R934d6948a5204a62" /><Relationship Type="http://schemas.openxmlformats.org/officeDocument/2006/relationships/slide" Target="/ppt/slides/slide2.xml" Id="R02ba9ef64d944fe5" /><Relationship Type="http://schemas.openxmlformats.org/officeDocument/2006/relationships/slide" Target="/ppt/slides/slide3.xml" Id="Rfa25baba142a4e2c" /><Relationship Type="http://schemas.openxmlformats.org/officeDocument/2006/relationships/slide" Target="/ppt/slides/slide4.xml" Id="Rfc3b979421984b5e" /><Relationship Type="http://schemas.openxmlformats.org/officeDocument/2006/relationships/slide" Target="/ppt/slides/slide5.xml" Id="R82d935478ecc4da5" /><Relationship Type="http://schemas.openxmlformats.org/officeDocument/2006/relationships/slide" Target="/ppt/slides/slide6.xml" Id="R3627184534354e73" /><Relationship Type="http://schemas.openxmlformats.org/officeDocument/2006/relationships/slide" Target="/ppt/slides/slide7.xml" Id="R530d8d9b0d8b4e4e" /><Relationship Type="http://schemas.openxmlformats.org/officeDocument/2006/relationships/slide" Target="/ppt/slides/slide8.xml" Id="Rfa63c1057686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fcaba6d3c54a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20355ec9f3491a" /><Relationship Type="http://schemas.openxmlformats.org/officeDocument/2006/relationships/notesMaster" Target="/ppt/notesMasters/notesMaster1.xml" Id="Rec32e22f1367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06570740df4a49" /><Relationship Type="http://schemas.openxmlformats.org/officeDocument/2006/relationships/notesMaster" Target="/ppt/notesMasters/notesMaster1.xml" Id="R97a485ae8b0240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c31d8248054968" /><Relationship Type="http://schemas.openxmlformats.org/officeDocument/2006/relationships/notesMaster" Target="/ppt/notesMasters/notesMaster1.xml" Id="Rf1a9ecad705548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20843bfbce431e" /><Relationship Type="http://schemas.openxmlformats.org/officeDocument/2006/relationships/notesMaster" Target="/ppt/notesMasters/notesMaster1.xml" Id="R15f21efccc114e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75f0b33f88474d" /><Relationship Type="http://schemas.openxmlformats.org/officeDocument/2006/relationships/notesMaster" Target="/ppt/notesMasters/notesMaster1.xml" Id="R62e3c88c230f47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1332061a2a43aa" /><Relationship Type="http://schemas.openxmlformats.org/officeDocument/2006/relationships/notesMaster" Target="/ppt/notesMasters/notesMaster1.xml" Id="Re827b197439d4b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1f385c066a4d6e" /><Relationship Type="http://schemas.openxmlformats.org/officeDocument/2006/relationships/notesMaster" Target="/ppt/notesMasters/notesMaster1.xml" Id="R04393bbad5be4b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227b0c44284863" /><Relationship Type="http://schemas.openxmlformats.org/officeDocument/2006/relationships/notesMaster" Target="/ppt/notesMasters/notesMaster1.xml" Id="R0223e1414b40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今日はHackRadarをご紹介します。GitHubにコードをpushするだけで、チームの開発状況がダッシュボードに集まり、会場全体の進み具合を見渡せるアプリです。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logo: HackRadar_logo.png</a:t>
            </a:r>
          </a:p>
          <a:p xmlns:a="http://schemas.openxmlformats.org/drawingml/2006/main">
            <a:r>
              <a:t>- Product specification and implementation in the local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みなさんは、ハッカソンで他のチームの進み具合が気になった経験はありますか。作業は進んでいても、その情報がチームの外には届きにくい。ここがHackRadarの出発点です。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problem framing based on the local HackRadar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HackRadarは、特別な入力を求めません。開発者はいつも通りGitHubへpushするだけ。Webhookがイベントを受け取り、チームのコミット数やスコア、最近の動きを自動で更新します。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implementation: app/api/github/webhook route</a:t>
            </a:r>
          </a:p>
          <a:p xmlns:a="http://schemas.openxmlformats.org/drawingml/2006/main">
            <a:r>
              <a:t>- Local implementation: Supabase activity and team score data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実際のダッシュボードでは、チームのコミット数、スコア、ランキング、最近の活動をまとめて確認できます。細かな報告を待たなくても、開発が動いているかを視覚的に把握できます。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screenshot: .tmp/video/production-dashboard.png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もう一つのポイントが質問ボードです。開発中に詰まったことを投稿し、チーム内やメンターから回答をもらえます。進捗の可視化と、助けを求める場所を一つにまとめています。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screenshot: .tmp/video/inspect-onboarding.png</a:t>
            </a:r>
          </a:p>
          <a:p xmlns:a="http://schemas.openxmlformats.org/drawingml/2006/main">
            <a:r>
              <a:t>- Local implementation: questions and answers feature in the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加の流れは4ステップです。GitHubでログインし、チーム名と招待コードを入力して、リポジトリを登録。あとは普段通り開発するだけです。メンターも招待コード、名前、得意分野を入力して参加でき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implementation: onboarding, team edit, mentor join, GitHub OAuth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技術面では、フロントエンドをNext.jsとTypeScript、データと認証をSupabase、GitHub連携をOAuthとWebhookで構成しています。Vercelへデプロイし、GitHub Actionsでlint、テスト、ビルドも自動確認します。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package.json and source tree</a:t>
            </a:r>
          </a:p>
          <a:p xmlns:a="http://schemas.openxmlformats.org/drawingml/2006/main">
            <a:r>
              <a:t>- Local CI workflow: .github/workflows/ci.yml</a:t>
            </a:r>
          </a:p>
          <a:p xmlns:a="http://schemas.openxmlformats.org/drawingml/2006/main">
            <a:r>
              <a:t>- Local deployment configuration and GitHub webhook route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HackRadarが目指すのは、監視ではなく助け合いです。GitHubの活動を見えるようにし、困ったときに聞けるようにすることで、ハッカソンの開発をチームの中だけで終わらせません。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product logo and implementation</a:t>
            </a:r>
          </a:p>
          <a:p xmlns:a="http://schemas.openxmlformats.org/drawingml/2006/main">
            <a:r>
              <a:t>- Product positioning based on the HackRadar MVP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da3773f0e47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c0ae72453640cc" /><Relationship Type="http://schemas.openxmlformats.org/officeDocument/2006/relationships/slideLayout" Target="/ppt/slideLayouts/slideLayout1.xml" Id="Rf7d08ffad9e6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d08ffad9e6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b950a20c440a5" /><Relationship Type="http://schemas.openxmlformats.org/officeDocument/2006/relationships/image" Target="/ppt/media/image.png" Id="Rfcaf6a55e9f645e0" /><Relationship Type="http://schemas.openxmlformats.org/officeDocument/2006/relationships/notesSlide" Target="/ppt/notesSlides/notesSlide1.xml" Id="R01596a0cdb6f4b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4edea6c094cec" /><Relationship Type="http://schemas.openxmlformats.org/officeDocument/2006/relationships/notesSlide" Target="/ppt/notesSlides/notesSlide2.xml" Id="R3cd871a349db42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10d291fd44d6a" /><Relationship Type="http://schemas.openxmlformats.org/officeDocument/2006/relationships/notesSlide" Target="/ppt/notesSlides/notesSlide3.xml" Id="Rc78908ebd0e74e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fe2df7cc44c64" /><Relationship Type="http://schemas.openxmlformats.org/officeDocument/2006/relationships/image" Target="/ppt/media/image2.png" Id="R8bf4f31a663d4f83" /><Relationship Type="http://schemas.openxmlformats.org/officeDocument/2006/relationships/notesSlide" Target="/ppt/notesSlides/notesSlide4.xml" Id="R81d26cc1ee1f44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ea0c981d542a4" /><Relationship Type="http://schemas.openxmlformats.org/officeDocument/2006/relationships/image" Target="/ppt/media/image3.png" Id="R0ee650eb80e44d0a" /><Relationship Type="http://schemas.openxmlformats.org/officeDocument/2006/relationships/notesSlide" Target="/ppt/notesSlides/notesSlide5.xml" Id="R5dacac0a285348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23c0226b04e36" /><Relationship Type="http://schemas.openxmlformats.org/officeDocument/2006/relationships/notesSlide" Target="/ppt/notesSlides/notesSlide6.xml" Id="R4e567f39276747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904466a28495d" /><Relationship Type="http://schemas.openxmlformats.org/officeDocument/2006/relationships/notesSlide" Target="/ppt/notesSlides/notesSlide7.xml" Id="R792dae58edab47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ba54a28834cf3" /><Relationship Type="http://schemas.openxmlformats.org/officeDocument/2006/relationships/notesSlide" Target="/ppt/notesSlides/notesSlide8.xml" Id="R05598ef1e9cb4e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10D6A-D632-46A9-A229-26D5B724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3"/>
          </a:solidFill>
          <a:ln xmlns:a="http://schemas.openxmlformats.org/drawingml/2006/main" w="0">
            <a:solidFill>
              <a:srgbClr val="0F8F83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f6a55e9f645e0"/>
          <a:stretch xmlns:a="http://schemas.openxmlformats.org/drawingml/2006/main"/>
        </p:blipFill>
        <p:spPr>
          <a:xfrm xmlns:a="http://schemas.openxmlformats.org/drawingml/2006/main">
            <a:off x="685800" y="698500"/>
            <a:ext cx="2724150" cy="908050"/>
          </a:xfrm>
          <a:prstGeom xmlns:a="http://schemas.openxmlformats.org/drawingml/2006/main" prst="roundRect">
            <a:avLst>
              <a:gd name="adj" fmla="val 1090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10822-E808-49AB-A289-5D8C2E3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01F1B"/>
                </a:solidFill>
              </a:defRPr>
            </a:pPr>
            <a:r>
              <a:rPr sz="5100" b="1">
                <a:solidFill>
                  <a:srgbClr val="201F1B"/>
                </a:solidFill>
              </a:rPr>
              <a:t>HackRadar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DCAB8-8F6E-461F-8C8B-4FD441A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36A"/>
                </a:solidFill>
              </a:defRPr>
            </a:pPr>
            <a:r>
              <a:rPr sz="2175" b="1">
                <a:solidFill>
                  <a:srgbClr val="08736A"/>
                </a:solidFill>
              </a:rPr>
              <a:t>GitHubの動きを、チームの進捗に変える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C86A2-B7B7-4AC2-ABAE-8885E6F1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C6A62"/>
                </a:solidFill>
              </a:defRPr>
            </a:pPr>
            <a:r>
              <a:rPr sz="1575" b="0">
                <a:solidFill>
                  <a:srgbClr val="6C6A62"/>
                </a:solidFill>
              </a:rPr>
              <a:t>ハッカソン向け開発可視化ダッシュボード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7E006-448D-4829-92C0-BDC3E2F0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667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2EE"/>
          </a:solidFill>
          <a:ln xmlns:a="http://schemas.openxmlformats.org/drawingml/2006/main" w="0">
            <a:solidFill>
              <a:srgbClr val="DFF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65CE9-700D-434C-BB88-F2279E7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6A"/>
                </a:solidFill>
              </a:defRPr>
            </a:pPr>
            <a:r>
              <a:rPr sz="1050" b="1">
                <a:solidFill>
                  <a:srgbClr val="08736A"/>
                </a:solidFill>
              </a:rPr>
              <a:t>Next.js  ×  Supabase  ×  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54D1F-31F4-48D1-9F85-690EA76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66800"/>
            <a:ext cx="2895600" cy="41910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FA04D-2DEF-4646-BF83-7DD87AD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00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8F83"/>
                </a:solidFill>
              </a:defRPr>
            </a:pPr>
            <a:r>
              <a:rPr sz="1125" b="1">
                <a:solidFill>
                  <a:srgbClr val="0F8F83"/>
                </a:solidFill>
              </a:rPr>
              <a:t>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E05ED-54CA-4C83-922A-CF8FF811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1930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2EE"/>
          </a:solidFill>
          <a:ln xmlns:a="http://schemas.openxmlformats.org/drawingml/2006/main" w="0">
            <a:solidFill>
              <a:srgbClr val="DFF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9C350-7CB6-4FED-ABC7-40A14483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86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36A"/>
                </a:solidFill>
              </a:defRPr>
            </a:pPr>
            <a:r>
              <a:rPr sz="1875" b="1">
                <a:solidFill>
                  <a:srgbClr val="08736A"/>
                </a:solidFill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346D0-93AA-4848-9929-3C595C6C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384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3"/>
          </a:solidFill>
          <a:ln xmlns:a="http://schemas.openxmlformats.org/drawingml/2006/main" w="0">
            <a:solidFill>
              <a:srgbClr val="0F8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C83BB-AC12-4EA1-BBE9-1A35F7A1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0995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EBD7"/>
          </a:solidFill>
          <a:ln xmlns:a="http://schemas.openxmlformats.org/drawingml/2006/main" w="0">
            <a:solidFill>
              <a:srgbClr val="F5EB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295DD-8023-429F-8F8A-9D81EDC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76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1F1B"/>
                </a:solidFill>
              </a:defRPr>
            </a:pPr>
            <a:r>
              <a:rPr sz="1650" b="1">
                <a:solidFill>
                  <a:srgbClr val="201F1B"/>
                </a:solidFill>
              </a:rPr>
              <a:t>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93041-B52F-4F7A-81F1-3E39D7E1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7675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commit</a:t>
            </a:r>
          </a:p>
          <a:p xmlns:a="http://schemas.openxmlformats.org/drawingml/2006/main">
            <a:pPr algn="ctr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activity</a:t>
            </a:r>
          </a:p>
          <a:p xmlns:a="http://schemas.openxmlformats.org/drawingml/2006/main">
            <a:pPr algn="ctr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5D7BF-4E65-448E-82B6-5E76C3A7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626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1F1B"/>
                </a:solidFill>
              </a:defRPr>
            </a:pPr>
            <a:r>
              <a:rPr sz="1350" b="1">
                <a:solidFill>
                  <a:srgbClr val="201F1B"/>
                </a:solidFill>
              </a:rPr>
              <a:t>Hackathon開発を、</a:t>
            </a:r>
          </a:p>
          <a:p xmlns:a="http://schemas.openxmlformats.org/drawingml/2006/main">
            <a:pPr algn="ctr">
              <a:defRPr sz="1350" b="1">
                <a:solidFill>
                  <a:srgbClr val="201F1B"/>
                </a:solidFill>
              </a:defRPr>
            </a:pPr>
            <a:r>
              <a:rPr sz="1350" b="1">
                <a:solidFill>
                  <a:srgbClr val="201F1B"/>
                </a:solidFill>
              </a:rPr>
              <a:t>観察から参加へ。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9C64F-D038-4C0A-B4F2-5FF576ED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F8B71-87F8-4992-A8EA-5F09E07F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2"/>
                </a:solidFill>
              </a:defRPr>
            </a:pPr>
            <a:r>
              <a:rPr sz="900" b="1">
                <a:solidFill>
                  <a:srgbClr val="6C6A62"/>
                </a:solidFill>
              </a:rPr>
              <a:t>HackRadar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B3BD6-8AFF-44F2-9A7A-8190695F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C6A62"/>
                </a:solidFill>
              </a:defRPr>
            </a:pPr>
            <a:r>
              <a:rPr sz="900" b="0">
                <a:solidFill>
                  <a:srgbClr val="6C6A62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548444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E34E7-243E-47B5-A2D7-F7276379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3"/>
                </a:solidFill>
              </a:defRPr>
            </a:pPr>
            <a:r>
              <a:rPr sz="1050" b="1">
                <a:solidFill>
                  <a:srgbClr val="0F8F83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D0520-7655-43EF-9B26-F1BAC85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F1B"/>
                </a:solidFill>
              </a:defRPr>
            </a:pPr>
            <a:r>
              <a:rPr sz="2850" b="1">
                <a:solidFill>
                  <a:srgbClr val="201F1B"/>
                </a:solidFill>
              </a:rPr>
              <a:t>ハッカソンの開発状況は、見えにくい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F2F9F-4DB0-4C5F-B265-0617BEB3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6A62"/>
                </a:solidFill>
              </a:defRPr>
            </a:pPr>
            <a:r>
              <a:rPr sz="1050" b="1">
                <a:solidFill>
                  <a:srgbClr val="6C6A6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F67FC-572A-4B05-9B26-4CF8CB82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64E3B-169A-4ADC-BEFF-52A10B29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C6A62"/>
                </a:solidFill>
              </a:defRPr>
            </a:pPr>
            <a:r>
              <a:rPr sz="1725" b="0">
                <a:solidFill>
                  <a:srgbClr val="6C6A62"/>
                </a:solidFill>
              </a:rPr>
              <a:t>作っている最中ほど、チームの外からは進捗が見えません。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DD196-73B0-4BD5-B1DC-18C1BEA5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85F"/>
          </a:solidFill>
          <a:ln xmlns:a="http://schemas.openxmlformats.org/drawingml/2006/main" w="0">
            <a:solidFill>
              <a:srgbClr val="DB78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508B7-B25D-4EED-80A5-AC9C5575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1F1B"/>
                </a:solidFill>
              </a:defRPr>
            </a:pPr>
            <a:r>
              <a:rPr sz="1425" b="1">
                <a:solidFill>
                  <a:srgbClr val="201F1B"/>
                </a:solidFill>
              </a:rPr>
              <a:t>開発がチーム内に閉じる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CFA75-9D51-4DE8-97AB-F2C46FAC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他のチームがどこまで進んでいるか、比較しづらい。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66F72-4576-4CCB-84AB-70108B2C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A2E"/>
          </a:solidFill>
          <a:ln xmlns:a="http://schemas.openxmlformats.org/drawingml/2006/main" w="0">
            <a:solidFill>
              <a:srgbClr val="C98A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36121-911D-45AF-92FA-0D74B06C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1F1B"/>
                </a:solidFill>
              </a:defRPr>
            </a:pPr>
            <a:r>
              <a:rPr sz="1425" b="1">
                <a:solidFill>
                  <a:srgbClr val="201F1B"/>
                </a:solidFill>
              </a:rPr>
              <a:t>進捗共有が口頭・手入力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B22D4-E4D7-47FF-944B-B634905A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報告のための作業が増え、開発の時間を圧迫する。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38264-F6D0-4118-AB10-3A88FB3A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F83"/>
          </a:solidFill>
          <a:ln xmlns:a="http://schemas.openxmlformats.org/drawingml/2006/main" w="0">
            <a:solidFill>
              <a:srgbClr val="0F8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35142-9A89-4C48-B516-151EAB1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1F1B"/>
                </a:solidFill>
              </a:defRPr>
            </a:pPr>
            <a:r>
              <a:rPr sz="1425" b="1">
                <a:solidFill>
                  <a:srgbClr val="201F1B"/>
                </a:solidFill>
              </a:rPr>
              <a:t>困ったときに質問しづらい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FEDF9-7A64-4B4F-9D81-84910026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誰に聞けばよいか分からず、詰まりが長引く。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FCD12-2358-4D49-84B4-C0224778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838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8E42D-6BA9-4230-99FC-D80E2330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B785F"/>
                </a:solidFill>
              </a:defRPr>
            </a:pPr>
            <a:r>
              <a:rPr sz="3300" b="1">
                <a:solidFill>
                  <a:srgbClr val="DB785F"/>
                </a:solidFill>
              </a:rPr>
              <a:t>見えない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6A06D-3FD1-4A0F-A4C3-3E487522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C6A62"/>
                </a:solidFill>
              </a:defRPr>
            </a:pPr>
            <a:r>
              <a:rPr sz="2250" b="1">
                <a:solidFill>
                  <a:srgbClr val="6C6A62"/>
                </a:solidFill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7DA2A-03FC-4058-BF24-419B41B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01F1B"/>
                </a:solidFill>
              </a:defRPr>
            </a:pPr>
            <a:r>
              <a:rPr sz="2925" b="1">
                <a:solidFill>
                  <a:srgbClr val="201F1B"/>
                </a:solidFill>
              </a:rPr>
              <a:t>助け合えない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AF308-A9AA-49FA-AC62-8D7F3C3D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67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C6A62"/>
                </a:solidFill>
              </a:defRPr>
            </a:pPr>
            <a:r>
              <a:rPr sz="1425" b="0">
                <a:solidFill>
                  <a:srgbClr val="6C6A62"/>
                </a:solidFill>
              </a:rPr>
              <a:t>進捗が見えないことは、</a:t>
            </a:r>
          </a:p>
          <a:p xmlns:a="http://schemas.openxmlformats.org/drawingml/2006/main">
            <a:pPr algn="ctr">
              <a:defRPr sz="1425" b="0">
                <a:solidFill>
                  <a:srgbClr val="6C6A62"/>
                </a:solidFill>
              </a:defRPr>
            </a:pPr>
            <a:r>
              <a:rPr sz="1425" b="0">
                <a:solidFill>
                  <a:srgbClr val="6C6A62"/>
                </a:solidFill>
              </a:rPr>
              <a:t>開発の孤立につながる。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3FF9A-2A29-4E55-AF2E-CAA47FF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49250-340B-44DD-BAF6-06BA5C27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2"/>
                </a:solidFill>
              </a:defRPr>
            </a:pPr>
            <a:r>
              <a:rPr sz="900" b="1">
                <a:solidFill>
                  <a:srgbClr val="6C6A62"/>
                </a:solidFill>
              </a:rPr>
              <a:t>HackRadar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5C6E1-3EA9-4EDE-AFA6-4CE7DFE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C6A62"/>
                </a:solidFill>
              </a:defRPr>
            </a:pPr>
            <a:r>
              <a:rPr sz="900" b="0">
                <a:solidFill>
                  <a:srgbClr val="6C6A62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681277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E1205-A3B0-4277-998E-BDC020E6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3"/>
                </a:solidFill>
              </a:defRPr>
            </a:pPr>
            <a:r>
              <a:rPr sz="1050" b="1">
                <a:solidFill>
                  <a:srgbClr val="0F8F83"/>
                </a:solidFill>
              </a:rPr>
              <a:t>THE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CE6D2-11AE-4111-83B0-D4B90975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F1B"/>
                </a:solidFill>
              </a:defRPr>
            </a:pPr>
            <a:r>
              <a:rPr sz="2850" b="1">
                <a:solidFill>
                  <a:srgbClr val="201F1B"/>
                </a:solidFill>
              </a:rPr>
              <a:t>GitHubへのpushを、会場全体の進捗に変える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2982A-AE74-4BBF-890E-0A6DDBD5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6A62"/>
                </a:solidFill>
              </a:defRPr>
            </a:pPr>
            <a:r>
              <a:rPr sz="1050" b="1">
                <a:solidFill>
                  <a:srgbClr val="6C6A6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2B9D4-E4C1-45C2-89DC-0476604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F9CF9-E7A8-4EC7-A36C-43559F1D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C6A62"/>
                </a:solidFill>
              </a:defRPr>
            </a:pPr>
            <a:r>
              <a:rPr sz="1725" b="0">
                <a:solidFill>
                  <a:srgbClr val="6C6A62"/>
                </a:solidFill>
              </a:rPr>
              <a:t>開発者の行動を増やさずに、状況だけを共有します。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2EDF-2AFD-4B42-85E1-E5345321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743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DFF2EE"/>
          </a:solidFill>
          <a:ln xmlns:a="http://schemas.openxmlformats.org/drawingml/2006/main" w="0">
            <a:solidFill>
              <a:srgbClr val="DFF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CC041-22A9-43D4-8391-FA2A4478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F83"/>
                </a:solidFill>
              </a:defRPr>
            </a:pPr>
            <a:r>
              <a:rPr sz="1200" b="1">
                <a:solidFill>
                  <a:srgbClr val="0F8F83"/>
                </a:solidFill>
              </a:rPr>
              <a:t>1  PUSH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CE0C2-0B74-4DFE-8F2D-410870F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B"/>
                </a:solidFill>
              </a:defRPr>
            </a:pPr>
            <a:r>
              <a:rPr sz="1875" b="1">
                <a:solidFill>
                  <a:srgbClr val="201F1B"/>
                </a:solidFill>
              </a:rPr>
              <a:t>git push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3267B-184F-45AE-B783-C58DE65F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いつものGitHubにpush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83CD2-DFF8-4A71-AA48-324C7A68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24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47170-2DE7-4421-89A8-EA3880A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337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8F83"/>
                </a:solidFill>
              </a:defRPr>
            </a:pPr>
            <a:r>
              <a:rPr sz="1875" b="1">
                <a:solidFill>
                  <a:srgbClr val="0F8F83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4ED74-EC23-4BA9-B56C-2807A1E1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2743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EBD7"/>
          </a:solidFill>
          <a:ln xmlns:a="http://schemas.openxmlformats.org/drawingml/2006/main" w="0">
            <a:solidFill>
              <a:srgbClr val="F5EB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F31C5-FF31-4810-9A05-6F197DF3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8A2E"/>
                </a:solidFill>
              </a:defRPr>
            </a:pPr>
            <a:r>
              <a:rPr sz="1200" b="1">
                <a:solidFill>
                  <a:srgbClr val="C98A2E"/>
                </a:solidFill>
              </a:rPr>
              <a:t>2  WEBHOOK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BCF7B-F759-4F78-9414-F50C772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B"/>
                </a:solidFill>
              </a:defRPr>
            </a:pPr>
            <a:r>
              <a:rPr sz="1875" b="1">
                <a:solidFill>
                  <a:srgbClr val="201F1B"/>
                </a:solidFill>
              </a:rPr>
              <a:t>POST /api/github/webhook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F648A-7292-4B8B-8733-3A0787E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GitHubから自動通知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B8CBC-003D-4A3D-8C28-8DE12C00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242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EC737-C8AD-4206-96AA-5328452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3375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8F83"/>
                </a:solidFill>
              </a:defRPr>
            </a:pPr>
            <a:r>
              <a:rPr sz="1875" b="1">
                <a:solidFill>
                  <a:srgbClr val="0F8F83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B9FE3-59A0-4DA4-B9AE-9DC28211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27432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57DAA-76F9-46CB-8DB4-9B174F8D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36A"/>
                </a:solidFill>
              </a:defRPr>
            </a:pPr>
            <a:r>
              <a:rPr sz="1200" b="1">
                <a:solidFill>
                  <a:srgbClr val="08736A"/>
                </a:solidFill>
              </a:rPr>
              <a:t>3 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A8E5A-8069-48FC-BE5D-F7341AE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B"/>
                </a:solidFill>
              </a:defRPr>
            </a:pPr>
            <a:r>
              <a:rPr sz="1875" b="1">
                <a:solidFill>
                  <a:srgbClr val="201F1B"/>
                </a:solidFill>
              </a:rPr>
              <a:t>commitCount +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6A4B4-B466-4792-B320-0F6101C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コミット・スコアに反映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57635-279E-42BA-BA3D-DDA11FA8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36A"/>
                </a:solidFill>
              </a:defRPr>
            </a:pPr>
            <a:r>
              <a:rPr sz="1500" b="1">
                <a:solidFill>
                  <a:srgbClr val="08736A"/>
                </a:solidFill>
              </a:rPr>
              <a:t>チーム名 / リポジトリ / コミット数 / スコア / 最近の動き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C7D06-815E-4423-94BC-3F00A212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D500E-3F36-451F-906A-89FEF490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2"/>
                </a:solidFill>
              </a:defRPr>
            </a:pPr>
            <a:r>
              <a:rPr sz="900" b="1">
                <a:solidFill>
                  <a:srgbClr val="6C6A62"/>
                </a:solidFill>
              </a:rPr>
              <a:t>HackRadar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40805-8A52-49E0-B79D-9A4CEB87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C6A62"/>
                </a:solidFill>
              </a:defRPr>
            </a:pPr>
            <a:r>
              <a:rPr sz="900" b="0">
                <a:solidFill>
                  <a:srgbClr val="6C6A62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7404933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B0EA3-3D63-48A0-ADF9-65412DA9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3"/>
                </a:solidFill>
              </a:defRPr>
            </a:pPr>
            <a:r>
              <a:rPr sz="1050" b="1">
                <a:solidFill>
                  <a:srgbClr val="0F8F83"/>
                </a:solidFill>
              </a:rPr>
              <a:t>SEE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864EF-5430-4B8C-AC03-54DDF9AF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F1B"/>
                </a:solidFill>
              </a:defRPr>
            </a:pPr>
            <a:r>
              <a:rPr sz="2850" b="1">
                <a:solidFill>
                  <a:srgbClr val="201F1B"/>
                </a:solidFill>
              </a:rPr>
              <a:t>誰がどれだけ進んでいるかを、一画面で比較できる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C05C9-ED72-4F54-B47A-5322567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6A62"/>
                </a:solidFill>
              </a:defRPr>
            </a:pPr>
            <a:r>
              <a:rPr sz="1050" b="1">
                <a:solidFill>
                  <a:srgbClr val="6C6A6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D350A-928F-4987-8D45-A07F2187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A7176-9F88-4645-B1E2-6D043C60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C6A62"/>
                </a:solidFill>
              </a:defRPr>
            </a:pPr>
            <a:r>
              <a:rPr sz="1725" b="0">
                <a:solidFill>
                  <a:srgbClr val="6C6A62"/>
                </a:solidFill>
              </a:rPr>
              <a:t>会場全体の“今”を、チーム別の数字と動きで把握します。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7CB39-437D-497E-ABB2-C6003809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95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A3C76-6869-4358-98BA-AC3F1D4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F83"/>
                </a:solidFill>
              </a:defRPr>
            </a:pPr>
            <a:r>
              <a:rPr sz="1350" b="1">
                <a:solidFill>
                  <a:srgbClr val="0F8F83"/>
                </a:solidFill>
              </a:rPr>
              <a:t>見えるもの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58E0D-DCA3-43D4-A375-942F0CDC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F83"/>
          </a:solidFill>
          <a:ln xmlns:a="http://schemas.openxmlformats.org/drawingml/2006/main" w="0">
            <a:solidFill>
              <a:srgbClr val="0F8F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18028-07DF-4875-BD4F-C2E91806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1F1B"/>
                </a:solidFill>
              </a:defRPr>
            </a:pPr>
            <a:r>
              <a:rPr sz="1425" b="1">
                <a:solidFill>
                  <a:srgbClr val="201F1B"/>
                </a:solidFill>
              </a:rPr>
              <a:t>チーム別コミット数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B2BE0-CD0D-49F6-A0AA-18C6DA7E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どのチームが動いているかが分かる。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5D138-39BC-4B7A-923C-EB0C1CA3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A2E"/>
          </a:solidFill>
          <a:ln xmlns:a="http://schemas.openxmlformats.org/drawingml/2006/main" w="0">
            <a:solidFill>
              <a:srgbClr val="C98A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21AA6-3295-4A30-9EE1-BE96A315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1F1B"/>
                </a:solidFill>
              </a:defRPr>
            </a:pPr>
            <a:r>
              <a:rPr sz="1425" b="1">
                <a:solidFill>
                  <a:srgbClr val="201F1B"/>
                </a:solidFill>
              </a:rPr>
              <a:t>スコアとランキング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46FCB-45DE-42C5-B287-069B88FA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進捗の差を、ひと目で比較できる。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BD049-2EA1-4648-99A0-1024B65C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785F"/>
          </a:solidFill>
          <a:ln xmlns:a="http://schemas.openxmlformats.org/drawingml/2006/main" w="0">
            <a:solidFill>
              <a:srgbClr val="DB78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98F55-97FB-4410-9EDD-E32B1C10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1F1B"/>
                </a:solidFill>
              </a:defRPr>
            </a:pPr>
            <a:r>
              <a:rPr sz="1425" b="1">
                <a:solidFill>
                  <a:srgbClr val="201F1B"/>
                </a:solidFill>
              </a:rPr>
              <a:t>最近の活動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F548E-0C2E-4298-BC50-BDA0F89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新しいpushや質問を追える。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1DD57-1566-449B-8C51-E966C9D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62865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4f31a663d4f83"/>
          <a:srcRect xmlns:a="http://schemas.openxmlformats.org/drawingml/2006/main" l="0" t="3376" r="0" b="33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2286000"/>
            <a:ext cx="5981700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89BE6-9A7F-4A56-9EB8-77DDDEB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F2680-F05A-48E6-BE5C-6B0D8EF1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2"/>
                </a:solidFill>
              </a:defRPr>
            </a:pPr>
            <a:r>
              <a:rPr sz="900" b="1">
                <a:solidFill>
                  <a:srgbClr val="6C6A62"/>
                </a:solidFill>
              </a:rPr>
              <a:t>HackRadar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9499A-2E51-4CB8-8E9E-356B867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C6A62"/>
                </a:solidFill>
              </a:defRPr>
            </a:pPr>
            <a:r>
              <a:rPr sz="900" b="0">
                <a:solidFill>
                  <a:srgbClr val="6C6A62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989459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81D9E-B8A1-4311-B84D-915B7D73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3"/>
                </a:solidFill>
              </a:defRPr>
            </a:pPr>
            <a:r>
              <a:rPr sz="1050" b="1">
                <a:solidFill>
                  <a:srgbClr val="0F8F83"/>
                </a:solidFill>
              </a:rPr>
              <a:t>ASK AND HELP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55E06-E02A-4011-81B8-8A5F99CD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F1B"/>
                </a:solidFill>
              </a:defRPr>
            </a:pPr>
            <a:r>
              <a:rPr sz="2850" b="1">
                <a:solidFill>
                  <a:srgbClr val="201F1B"/>
                </a:solidFill>
              </a:rPr>
              <a:t>開発の“詰まり”も、同じ場所で解消する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DF794-3AEA-4DFD-A3F4-EDBBC89E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6A62"/>
                </a:solidFill>
              </a:defRPr>
            </a:pPr>
            <a:r>
              <a:rPr sz="1050" b="1">
                <a:solidFill>
                  <a:srgbClr val="6C6A6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EBABD-4953-4161-B5AF-40B4858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60DC1-7C62-464D-AB0B-AF377FD4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C6A62"/>
                </a:solidFill>
              </a:defRPr>
            </a:pPr>
            <a:r>
              <a:rPr sz="1725" b="0">
                <a:solidFill>
                  <a:srgbClr val="6C6A62"/>
                </a:solidFill>
              </a:rPr>
              <a:t>進捗を見るだけでなく、質問と回答までチームの流れに入れます。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7A1E8-9713-46F9-AC5D-FAFD9FAB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7244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650eb80e44d0a"/>
          <a:srcRect xmlns:a="http://schemas.openxmlformats.org/drawingml/2006/main" l="8962" t="0" r="89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571750"/>
            <a:ext cx="4419600" cy="302895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4F511-F752-4C5C-9BAB-771BE6B4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19350"/>
            <a:ext cx="54483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FF2EE"/>
          </a:solidFill>
          <a:ln xmlns:a="http://schemas.openxmlformats.org/drawingml/2006/main" w="0">
            <a:solidFill>
              <a:srgbClr val="DFF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DE292-6975-4BD0-8E7D-90A9229A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736A"/>
                </a:solidFill>
              </a:defRPr>
            </a:pPr>
            <a:r>
              <a:rPr sz="2625" b="1">
                <a:solidFill>
                  <a:srgbClr val="08736A"/>
                </a:solidFill>
              </a:rPr>
              <a:t>質問する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FD719-7CB7-4779-9CAC-93E683C7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B"/>
                </a:solidFill>
              </a:defRPr>
            </a:pPr>
            <a:r>
              <a:rPr sz="1575" b="1">
                <a:solidFill>
                  <a:srgbClr val="201F1B"/>
                </a:solidFill>
              </a:rPr>
              <a:t>困ったことを投稿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DEAC0-C2F6-4E9E-8ECD-F510EDED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C6A62"/>
                </a:solidFill>
              </a:defRPr>
            </a:pPr>
            <a:r>
              <a:rPr sz="1425" b="0">
                <a:solidFill>
                  <a:srgbClr val="6C6A62"/>
                </a:solidFill>
              </a:rPr>
              <a:t>チームのメンバー、メンター、運営が</a:t>
            </a:r>
          </a:p>
          <a:p xmlns:a="http://schemas.openxmlformats.org/drawingml/2006/main">
            <a:pPr algn="l">
              <a:defRPr sz="1425" b="0">
                <a:solidFill>
                  <a:srgbClr val="6C6A62"/>
                </a:solidFill>
              </a:defRPr>
            </a:pPr>
            <a:r>
              <a:rPr sz="1425" b="0">
                <a:solidFill>
                  <a:srgbClr val="6C6A62"/>
                </a:solidFill>
              </a:rPr>
              <a:t>同じ場所で回答できます。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0241F-8923-46D8-A303-0C58126A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7205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57EFF-EA38-4B97-B849-9BED00EE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29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6A"/>
                </a:solidFill>
              </a:defRPr>
            </a:pPr>
            <a:r>
              <a:rPr sz="1050" b="1">
                <a:solidFill>
                  <a:srgbClr val="08736A"/>
                </a:solidFill>
              </a:rPr>
              <a:t>質問 → 回答 → 前進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2328B-A837-4740-B1B9-0B1BA9CC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4236E-A0E4-4C4B-8F5D-BEB08488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2"/>
                </a:solidFill>
              </a:defRPr>
            </a:pPr>
            <a:r>
              <a:rPr sz="900" b="1">
                <a:solidFill>
                  <a:srgbClr val="6C6A62"/>
                </a:solidFill>
              </a:rPr>
              <a:t>HackRadar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08C57-F29B-4DC9-A214-B9CAC0B9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C6A62"/>
                </a:solidFill>
              </a:defRPr>
            </a:pPr>
            <a:r>
              <a:rPr sz="900" b="0">
                <a:solidFill>
                  <a:srgbClr val="6C6A62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1550472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041D47-3725-451E-B1E7-E1390D9F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3"/>
                </a:solidFill>
              </a:defRPr>
            </a:pPr>
            <a:r>
              <a:rPr sz="1050" b="1">
                <a:solidFill>
                  <a:srgbClr val="0F8F83"/>
                </a:solidFill>
              </a:rPr>
              <a:t>THE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C2212-8E93-4C0F-AB88-B2AA5969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F1B"/>
                </a:solidFill>
              </a:defRPr>
            </a:pPr>
            <a:r>
              <a:rPr sz="2850" b="1">
                <a:solidFill>
                  <a:srgbClr val="201F1B"/>
                </a:solidFill>
              </a:rPr>
              <a:t>参加から記録まで、操作はシンプル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95D37-40B0-46D4-A844-D4B609C8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6A62"/>
                </a:solidFill>
              </a:defRPr>
            </a:pPr>
            <a:r>
              <a:rPr sz="1050" b="1">
                <a:solidFill>
                  <a:srgbClr val="6C6A6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C37AC-AD16-4DE2-8083-0341D5A8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D9D9E-01FA-43ED-81EA-200D55BB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171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1D5E5-8FE0-45C1-95F2-076946D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F83"/>
                </a:solidFill>
              </a:defRPr>
            </a:pPr>
            <a:r>
              <a:rPr sz="1125" b="1">
                <a:solidFill>
                  <a:srgbClr val="0F8F8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81A70-8E04-4D4A-B4AD-7E201DD7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F1B"/>
                </a:solidFill>
              </a:defRPr>
            </a:pPr>
            <a:r>
              <a:rPr sz="1800" b="1">
                <a:solidFill>
                  <a:srgbClr val="201F1B"/>
                </a:solidFill>
              </a:rPr>
              <a:t>ログイン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B77D2-78DF-46A1-9D70-948A5725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GitHubで本人確認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86576-6612-4E6F-8C78-B00A9E70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909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A2E"/>
                </a:solidFill>
              </a:defRPr>
            </a:pPr>
            <a:r>
              <a:rPr sz="1950" b="1">
                <a:solidFill>
                  <a:srgbClr val="C98A2E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91781-86E2-4020-B76D-8E68E500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05100"/>
            <a:ext cx="2171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24CBC-179C-4C64-BFEE-C6EB4A38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F83"/>
                </a:solidFill>
              </a:defRPr>
            </a:pPr>
            <a:r>
              <a:rPr sz="1125" b="1">
                <a:solidFill>
                  <a:srgbClr val="0F8F8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37AB7-B424-4A16-A3F0-9A82A705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F1B"/>
                </a:solidFill>
              </a:defRPr>
            </a:pPr>
            <a:r>
              <a:rPr sz="1800" b="1">
                <a:solidFill>
                  <a:srgbClr val="201F1B"/>
                </a:solidFill>
              </a:rPr>
              <a:t>チーム参加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4AB44-A566-45D3-8A87-13840719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チーム名・招待コードを入力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C805F-DB6B-4F65-B185-943B52AD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909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A2E"/>
                </a:solidFill>
              </a:defRPr>
            </a:pPr>
            <a:r>
              <a:rPr sz="1950" b="1">
                <a:solidFill>
                  <a:srgbClr val="C98A2E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204C5-4B5B-44BF-A23F-D2F5FD1A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05100"/>
            <a:ext cx="2171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ECAFF-C2BC-4E05-B08F-C950BE43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F83"/>
                </a:solidFill>
              </a:defRPr>
            </a:pPr>
            <a:r>
              <a:rPr sz="1125" b="1">
                <a:solidFill>
                  <a:srgbClr val="0F8F8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A390E-5E05-40AC-9F3D-645C1A2C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F1B"/>
                </a:solidFill>
              </a:defRPr>
            </a:pPr>
            <a:r>
              <a:rPr sz="1800" b="1">
                <a:solidFill>
                  <a:srgbClr val="201F1B"/>
                </a:solidFill>
              </a:rPr>
              <a:t>リポジトリ登録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33046-8E87-4C25-B0BB-69730EC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監視するGitHub repoを接続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79E22-260C-47E7-B107-32DC4510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98A2E"/>
                </a:solidFill>
              </a:defRPr>
            </a:pPr>
            <a:r>
              <a:rPr sz="1950" b="1">
                <a:solidFill>
                  <a:srgbClr val="C98A2E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28993-0AF7-4F6D-AA4F-421892FF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05100"/>
            <a:ext cx="2171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FF2EE"/>
          </a:solidFill>
          <a:ln xmlns:a="http://schemas.openxmlformats.org/drawingml/2006/main" w="0">
            <a:solidFill>
              <a:srgbClr val="DFF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7A1FC-7FE1-431C-8092-E64EE2D1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36A"/>
                </a:solidFill>
              </a:defRPr>
            </a:pPr>
            <a:r>
              <a:rPr sz="1125" b="1">
                <a:solidFill>
                  <a:srgbClr val="08736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69469-D31F-40F7-8502-42DBDDD4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71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F1B"/>
                </a:solidFill>
              </a:defRPr>
            </a:pPr>
            <a:r>
              <a:rPr sz="1800" b="1">
                <a:solidFill>
                  <a:srgbClr val="201F1B"/>
                </a:solidFill>
              </a:rPr>
              <a:t>開発する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B9222-ED92-4BAB-8F17-D4EC0375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pushが自動で反映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506A9-7F8E-4AA8-BBF5-F7EDBC42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8736A"/>
                </a:solidFill>
              </a:defRPr>
            </a:pPr>
            <a:r>
              <a:rPr sz="1500" b="0">
                <a:solidFill>
                  <a:srgbClr val="08736A"/>
                </a:solidFill>
              </a:rPr>
              <a:t>メンターは、招待コード・名前・得意分野を入力して参加できます。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8F318-6648-4701-A291-6B169563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958EE-3D6A-4AE1-97E7-DB7642F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2"/>
                </a:solidFill>
              </a:defRPr>
            </a:pPr>
            <a:r>
              <a:rPr sz="900" b="1">
                <a:solidFill>
                  <a:srgbClr val="6C6A62"/>
                </a:solidFill>
              </a:rPr>
              <a:t>HackRadar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17117-01A8-4B8F-8827-D506FBD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C6A62"/>
                </a:solidFill>
              </a:defRPr>
            </a:pPr>
            <a:r>
              <a:rPr sz="900" b="0">
                <a:solidFill>
                  <a:srgbClr val="6C6A62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878526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490BFC-EB79-4B6C-B06F-969E528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F83"/>
                </a:solidFill>
              </a:defRPr>
            </a:pPr>
            <a:r>
              <a:rPr sz="1050" b="1">
                <a:solidFill>
                  <a:srgbClr val="0F8F83"/>
                </a:solidFill>
              </a:rPr>
              <a:t>THE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6529-2210-4DA8-82BA-3FCDD57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1F1B"/>
                </a:solidFill>
              </a:defRPr>
            </a:pPr>
            <a:r>
              <a:rPr sz="2850" b="1">
                <a:solidFill>
                  <a:srgbClr val="201F1B"/>
                </a:solidFill>
              </a:rPr>
              <a:t>既存の開発フローに、最小限の仕組みを足した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3763D-239F-435B-9831-5C401008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C6A62"/>
                </a:solidFill>
              </a:defRPr>
            </a:pPr>
            <a:r>
              <a:rPr sz="1050" b="1">
                <a:solidFill>
                  <a:srgbClr val="6C6A6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C436-0401-4FBE-A6BA-0388E1A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66D60-4800-4CD6-823D-81721E7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C6A62"/>
                </a:solidFill>
              </a:defRPr>
            </a:pPr>
            <a:r>
              <a:rPr sz="1725" b="0">
                <a:solidFill>
                  <a:srgbClr val="6C6A62"/>
                </a:solidFill>
              </a:rPr>
              <a:t>実際の開発で使いやすい、シンプルな構成です。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0F80-F658-4585-BABC-92525B8B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22288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FF2EE"/>
          </a:solidFill>
          <a:ln xmlns:a="http://schemas.openxmlformats.org/drawingml/2006/main" w="0">
            <a:solidFill>
              <a:srgbClr val="DFF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447F5-8D8D-471A-A502-AF01B29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8F83"/>
                </a:solidFill>
              </a:defRPr>
            </a:pPr>
            <a:r>
              <a:rPr sz="1575" b="1">
                <a:solidFill>
                  <a:srgbClr val="0F8F83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3F28B-C7F7-4937-9EB3-4BFA7EED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B"/>
                </a:solidFill>
              </a:defRPr>
            </a:pPr>
            <a:r>
              <a:rPr sz="1275" b="1">
                <a:solidFill>
                  <a:srgbClr val="201F1B"/>
                </a:solidFill>
              </a:rPr>
              <a:t>Next.js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75B56-7830-447A-A52B-E24AC6D9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TypeScript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46AA6-1206-4CE8-9E4A-DD9DD90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Tailwind 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ECD68-8534-4CB0-B33C-6EE3EBC5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2095500" cy="22288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EBD7"/>
          </a:solidFill>
          <a:ln xmlns:a="http://schemas.openxmlformats.org/drawingml/2006/main" w="0">
            <a:solidFill>
              <a:srgbClr val="F5EB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D2BB2-65E6-43D8-B24F-44ED6624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8A2E"/>
                </a:solidFill>
              </a:defRPr>
            </a:pPr>
            <a:r>
              <a:rPr sz="1575" b="1">
                <a:solidFill>
                  <a:srgbClr val="C98A2E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F4BAF-9485-4E7F-8862-D1A26EE7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433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B"/>
                </a:solidFill>
              </a:defRPr>
            </a:pPr>
            <a:r>
              <a:rPr sz="1275" b="1">
                <a:solidFill>
                  <a:srgbClr val="201F1B"/>
                </a:solidFill>
              </a:rPr>
              <a:t>Supabase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327CF-9006-44E5-9D04-E67D80D4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05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6C95A-2D04-475D-9B9F-D381639C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Realtime / Auth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A8ABFC-C9C5-4192-AC7B-03021C99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2095500" cy="22288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ED2D5-5ECB-4818-9965-2A4A4BE5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27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384A"/>
                </a:solidFill>
              </a:defRPr>
            </a:pPr>
            <a:r>
              <a:rPr sz="1575" b="1">
                <a:solidFill>
                  <a:srgbClr val="20384A"/>
                </a:solidFill>
              </a:rPr>
              <a:t>GitHub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12FB2-642F-4F49-8B1B-5139EF92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433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B"/>
                </a:solidFill>
              </a:defRPr>
            </a:pPr>
            <a:r>
              <a:rPr sz="1275" b="1">
                <a:solidFill>
                  <a:srgbClr val="201F1B"/>
                </a:solidFill>
              </a:rPr>
              <a:t>OAuth login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1337A-99D4-43D5-9918-C9E62C1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05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Repository link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166EE-71D6-4D0A-8236-A758E764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672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Push webhook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077D8-A207-4A8A-8C26-A662AB6C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86050"/>
            <a:ext cx="2095500" cy="22288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B1AF9-F878-4223-B25A-C0A8FB7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785F"/>
                </a:solidFill>
              </a:defRPr>
            </a:pPr>
            <a:r>
              <a:rPr sz="1575" b="1">
                <a:solidFill>
                  <a:srgbClr val="DB785F"/>
                </a:solidFill>
              </a:rPr>
              <a:t>Deploy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2FD85-2BF3-4DEB-84CA-AE42D29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B"/>
                </a:solidFill>
              </a:defRPr>
            </a:pPr>
            <a:r>
              <a:rPr sz="1275" b="1">
                <a:solidFill>
                  <a:srgbClr val="201F1B"/>
                </a:solidFill>
              </a:rPr>
              <a:t>Vercel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AF4A7-F163-40F1-B614-5ECF3E3C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05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GitHub 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25201-315C-4589-81A7-B026D4CB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672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1F1B"/>
                </a:solidFill>
              </a:defRPr>
            </a:pPr>
            <a:r>
              <a:rPr sz="1275" b="0">
                <a:solidFill>
                  <a:srgbClr val="201F1B"/>
                </a:solidFill>
              </a:rPr>
              <a:t>CI: lint / test / 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E25B0-C17A-44ED-8508-37808545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36A"/>
                </a:solidFill>
              </a:defRPr>
            </a:pPr>
            <a:r>
              <a:rPr sz="1425" b="1">
                <a:solidFill>
                  <a:srgbClr val="08736A"/>
                </a:solidFill>
              </a:rPr>
              <a:t>GitHubのpush → Webhook → Supabaseに活動保存 → ダッシュボード更新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9EFE2-01DA-4F56-8E13-7AD980B8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AD0"/>
          </a:solidFill>
          <a:ln xmlns:a="http://schemas.openxmlformats.org/drawingml/2006/main" w="0">
            <a:solidFill>
              <a:srgbClr val="DEDA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D9962-6E0E-4101-A411-14CDBC1D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6A62"/>
                </a:solidFill>
              </a:defRPr>
            </a:pPr>
            <a:r>
              <a:rPr sz="900" b="1">
                <a:solidFill>
                  <a:srgbClr val="6C6A62"/>
                </a:solidFill>
              </a:rPr>
              <a:t>HackRadar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1D159-8C32-45D8-ABD9-FE0A741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C6A62"/>
                </a:solidFill>
              </a:defRPr>
            </a:pPr>
            <a:r>
              <a:rPr sz="900" b="0">
                <a:solidFill>
                  <a:srgbClr val="6C6A62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831102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A6BEC-E17F-4899-B710-9A49CF29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83"/>
          </a:solidFill>
          <a:ln xmlns:a="http://schemas.openxmlformats.org/drawingml/2006/main" w="0">
            <a:solidFill>
              <a:srgbClr val="0F8F8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C317D-7C2B-425D-AED0-A845BDF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F83"/>
                </a:solidFill>
              </a:defRPr>
            </a:pPr>
            <a:r>
              <a:rPr sz="1500" b="1">
                <a:solidFill>
                  <a:srgbClr val="0F8F83"/>
                </a:solidFill>
              </a:rPr>
              <a:t>HackRadar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7FBC-87C0-4CE3-9381-1039ABA6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01F1B"/>
                </a:solidFill>
              </a:defRPr>
            </a:pPr>
            <a:r>
              <a:rPr sz="3375" b="1">
                <a:solidFill>
                  <a:srgbClr val="201F1B"/>
                </a:solidFill>
              </a:rPr>
              <a:t>Hackathonの開発を、</a:t>
            </a:r>
          </a:p>
          <a:p xmlns:a="http://schemas.openxmlformats.org/drawingml/2006/main">
            <a:pPr algn="l">
              <a:defRPr sz="3375" b="1">
                <a:solidFill>
                  <a:srgbClr val="201F1B"/>
                </a:solidFill>
              </a:defRPr>
            </a:pPr>
            <a:r>
              <a:rPr sz="3375" b="1">
                <a:solidFill>
                  <a:srgbClr val="201F1B"/>
                </a:solidFill>
              </a:rPr>
              <a:t>見える・聞ける・助け合えるへ。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BA49C-F285-481A-BDAA-6990094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36A"/>
                </a:solidFill>
              </a:defRPr>
            </a:pPr>
            <a:r>
              <a:rPr sz="1950" b="1">
                <a:solidFill>
                  <a:srgbClr val="08736A"/>
                </a:solidFill>
              </a:rPr>
              <a:t>GitHubの活動を、チームの前進に変える。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210A3-2424-46CD-AB27-A7ECEF9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97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A4532-149C-4E34-B9B1-7B36794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36A"/>
                </a:solidFill>
              </a:defRPr>
            </a:pPr>
            <a:r>
              <a:rPr sz="1500" b="1">
                <a:solidFill>
                  <a:srgbClr val="08736A"/>
                </a:solidFill>
              </a:rPr>
              <a:t>見える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88678-EDC8-496D-8C88-44426EC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6A62"/>
                </a:solidFill>
              </a:defRPr>
            </a:pPr>
            <a:r>
              <a:rPr sz="1125" b="0">
                <a:solidFill>
                  <a:srgbClr val="6C6A62"/>
                </a:solidFill>
              </a:rPr>
              <a:t>チームの進捗を一画面で比較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1B681-5C98-401F-A3A4-74E84BA0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97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5EBD7"/>
          </a:solidFill>
          <a:ln xmlns:a="http://schemas.openxmlformats.org/drawingml/2006/main" w="0">
            <a:solidFill>
              <a:srgbClr val="F5EB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64167-2BCF-4143-BB5A-CA944B2F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1F1B"/>
                </a:solidFill>
              </a:defRPr>
            </a:pPr>
            <a:r>
              <a:rPr sz="1500" b="1">
                <a:solidFill>
                  <a:srgbClr val="201F1B"/>
                </a:solidFill>
              </a:rPr>
              <a:t>聞ける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65902-0F90-4FEF-B120-6F3540E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6A62"/>
                </a:solidFill>
              </a:defRPr>
            </a:pPr>
            <a:r>
              <a:rPr sz="1125" b="0">
                <a:solidFill>
                  <a:srgbClr val="6C6A62"/>
                </a:solidFill>
              </a:rPr>
              <a:t>質問とメンターの回答を共有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7691D-83B8-43B3-BD34-C6EA5FED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2971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A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64F10-9840-4A9F-8AE9-E46A78AE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67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36A"/>
                </a:solidFill>
              </a:defRPr>
            </a:pPr>
            <a:r>
              <a:rPr sz="1500" b="1">
                <a:solidFill>
                  <a:srgbClr val="08736A"/>
                </a:solidFill>
              </a:rPr>
              <a:t>続けられる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6C6A5-EDAC-4C49-AB4D-07B7AD3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482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6A62"/>
                </a:solidFill>
              </a:defRPr>
            </a:pPr>
            <a:r>
              <a:rPr sz="1125" b="0">
                <a:solidFill>
                  <a:srgbClr val="6C6A62"/>
                </a:solidFill>
              </a:rPr>
              <a:t>いつものpushをそのまま活用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AA246-84E7-4BD0-A59C-056D510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6A62"/>
                </a:solidFill>
              </a:defRPr>
            </a:pPr>
            <a:r>
              <a:rPr sz="1200" b="0">
                <a:solidFill>
                  <a:srgbClr val="6C6A62"/>
                </a:solidFill>
              </a:rPr>
              <a:t>ありがとうございました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1574E-C6D5-4626-92BC-62455C8B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19800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8F83"/>
                </a:solidFill>
              </a:defRPr>
            </a:pPr>
            <a:r>
              <a:rPr sz="1200" b="1">
                <a:solidFill>
                  <a:srgbClr val="0F8F83"/>
                </a:solidFill>
              </a:rPr>
              <a:t>開発の動きを、ひと目で。</a:t>
            </a:r>
          </a:p>
        </p:txBody>
      </p:sp>
    </p:spTree>
    <p:extLst>
      <p:ext uri="{BB962C8B-B14F-4D97-AF65-F5344CB8AC3E}">
        <p14:creationId xmlns:p14="http://schemas.microsoft.com/office/powerpoint/2010/main" val="1329119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2026-08-06T17:42:12.2390000Z</dcterms:created>
  <dcterms:modified xsi:type="dcterms:W3CDTF">2026-08-06T17:42:12.2390000Z</dcterms:modified>
</coreProperties>
</file>